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84048"/>
            <a:ext cx="438912" cy="438912"/>
          </a:xfrm>
          <a:prstGeom prst="roundRect">
            <a:avLst/>
          </a:prstGeom>
          <a:solidFill>
            <a:srgbClr val="2E67B3"/>
          </a:solidFill>
          <a:ln>
            <a:solidFill>
              <a:srgbClr val="2E67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48056"/>
            <a:ext cx="43891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" y="411480"/>
            <a:ext cx="3200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2E67B3"/>
                </a:solidFill>
                <a:latin typeface="Aptos"/>
              </a:rPr>
              <a:t>SITUATION |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11018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50" b="1">
                <a:solidFill>
                  <a:srgbClr val="14233A"/>
                </a:solidFill>
                <a:latin typeface="Aptos"/>
              </a:rPr>
              <a:t>SaaS subscription performance looked stable across the 2023–2024 observation period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19072"/>
            <a:ext cx="10835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>
                <a:solidFill>
                  <a:srgbClr val="697482"/>
                </a:solidFill>
                <a:latin typeface="Aptos"/>
              </a:rPr>
              <a:t>A multi-tier recurring-revenue model showed broadly steady baseline retention and recurring-revenue behavior before the deeper cohort analysis.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423160"/>
            <a:ext cx="11091672" cy="3310128"/>
          </a:xfrm>
          <a:prstGeom prst="roundRect">
            <a:avLst/>
          </a:prstGeom>
          <a:solidFill>
            <a:srgbClr val="F4F6F8"/>
          </a:solidFill>
          <a:ln>
            <a:solidFill>
              <a:srgbClr val="F4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770632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97482"/>
                </a:solidFill>
                <a:latin typeface="Aptos"/>
              </a:rPr>
              <a:t>BUSINESS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108960"/>
            <a:ext cx="46963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50" b="1">
                <a:solidFill>
                  <a:srgbClr val="14233A"/>
                </a:solidFill>
                <a:latin typeface="Aptos"/>
              </a:rPr>
              <a:t>Multi-tier SaaS subscriptions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768960"/>
            <a:ext cx="4343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>
                <a:solidFill>
                  <a:srgbClr val="697482"/>
                </a:solidFill>
                <a:latin typeface="Aptos"/>
              </a:rPr>
              <a:t>Recurring revenue across Basic, Pro, and Enterprise tiers.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15000" y="2971800"/>
            <a:ext cx="16002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15000" y="3236976"/>
            <a:ext cx="1600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2E67B3"/>
                </a:solidFill>
                <a:latin typeface="Aptos"/>
              </a:rPr>
              <a:t>BASIC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315200" y="3447288"/>
            <a:ext cx="393192" cy="0"/>
          </a:xfrm>
          <a:prstGeom prst="line">
            <a:avLst/>
          </a:prstGeom>
          <a:ln w="22860">
            <a:solidFill>
              <a:srgbClr val="D2D8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708392" y="2971800"/>
            <a:ext cx="16002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08392" y="3236976"/>
            <a:ext cx="1600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E07B33"/>
                </a:solidFill>
                <a:latin typeface="Aptos"/>
              </a:rPr>
              <a:t>PRO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308592" y="3447288"/>
            <a:ext cx="393192" cy="0"/>
          </a:xfrm>
          <a:prstGeom prst="line">
            <a:avLst/>
          </a:prstGeom>
          <a:ln w="22860">
            <a:solidFill>
              <a:srgbClr val="D2D8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701784" y="2971800"/>
            <a:ext cx="16002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01784" y="3236976"/>
            <a:ext cx="1600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2A8557"/>
                </a:solidFill>
                <a:latin typeface="Aptos"/>
              </a:rPr>
              <a:t>ENTERPRISE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0" y="4315968"/>
            <a:ext cx="5212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4233A"/>
                </a:solidFill>
                <a:latin typeface="Aptos"/>
              </a:rPr>
              <a:t>Recurring revenue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074920"/>
            <a:ext cx="9966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222B37"/>
                </a:solidFill>
                <a:latin typeface="Aptos"/>
              </a:rPr>
              <a:t>At first glance, the business did not present an obvious retention or expansion alarm.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64808"/>
            <a:ext cx="3108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697482"/>
                </a:solidFill>
                <a:latin typeface="Aptos"/>
              </a:rPr>
              <a:t>DAY 29  |  SITUATION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64808"/>
            <a:ext cx="640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697482"/>
                </a:solidFill>
                <a:latin typeface="Aptos"/>
              </a:rPr>
              <a:t>1 /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84048"/>
            <a:ext cx="438912" cy="438912"/>
          </a:xfrm>
          <a:prstGeom prst="roundRect">
            <a:avLst/>
          </a:prstGeom>
          <a:solidFill>
            <a:srgbClr val="E07B33"/>
          </a:solidFill>
          <a:ln>
            <a:solidFill>
              <a:srgbClr val="E07B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48056"/>
            <a:ext cx="43891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" y="411480"/>
            <a:ext cx="3200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E07B33"/>
                </a:solidFill>
                <a:latin typeface="Aptos"/>
              </a:rPr>
              <a:t>COMPLICATION A | CONCENTRATION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11018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50" b="1">
                <a:solidFill>
                  <a:srgbClr val="14233A"/>
                </a:solidFill>
                <a:latin typeface="Aptos"/>
              </a:rPr>
              <a:t>Churn rate is flat across tiers — but Enterprise ACV concentration makes it a $11.1M risk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19072"/>
            <a:ext cx="10835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>
                <a:solidFill>
                  <a:srgbClr val="697482"/>
                </a:solidFill>
                <a:latin typeface="Aptos"/>
              </a:rPr>
              <a:t>The rate signal looks similar; the dollar exposure does not.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40280"/>
            <a:ext cx="7452360" cy="3822191"/>
          </a:xfrm>
          <a:prstGeom prst="roundRect">
            <a:avLst/>
          </a:prstGeom>
          <a:solidFill>
            <a:srgbClr val="FFFFFF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542032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97482"/>
                </a:solidFill>
                <a:latin typeface="Aptos"/>
              </a:rPr>
              <a:t>Lost ARR by tier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55848"/>
            <a:ext cx="850392" cy="219456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920" b="1">
                <a:solidFill>
                  <a:srgbClr val="222B37"/>
                </a:solidFill>
                <a:latin typeface="Aptos"/>
              </a:rPr>
              <a:t>Basic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08760" y="3246120"/>
            <a:ext cx="5715000" cy="310896"/>
          </a:xfrm>
          <a:prstGeom prst="roundRect">
            <a:avLst/>
          </a:prstGeom>
          <a:solidFill>
            <a:srgbClr val="F4F6F8"/>
          </a:solidFill>
          <a:ln>
            <a:solidFill>
              <a:srgbClr val="F4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508760" y="3246120"/>
            <a:ext cx="447932" cy="310896"/>
          </a:xfrm>
          <a:prstGeom prst="roundRect">
            <a:avLst/>
          </a:prstGeom>
          <a:solidFill>
            <a:srgbClr val="2E67B3"/>
          </a:solidFill>
          <a:ln>
            <a:solidFill>
              <a:srgbClr val="2E67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66420" y="3236976"/>
            <a:ext cx="868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1">
                <a:solidFill>
                  <a:srgbClr val="14233A"/>
                </a:solidFill>
                <a:latin typeface="Aptos"/>
              </a:rPr>
              <a:t>$0.87M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66420" y="3529584"/>
            <a:ext cx="102412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>
                <a:solidFill>
                  <a:srgbClr val="697482"/>
                </a:solidFill>
                <a:latin typeface="Aptos"/>
              </a:rPr>
              <a:t>9.5% churn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197096"/>
            <a:ext cx="850392" cy="219456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920" b="1">
                <a:solidFill>
                  <a:srgbClr val="222B37"/>
                </a:solidFill>
                <a:latin typeface="Aptos"/>
              </a:rPr>
              <a:t>Pro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508760" y="4087368"/>
            <a:ext cx="5715000" cy="310896"/>
          </a:xfrm>
          <a:prstGeom prst="roundRect">
            <a:avLst/>
          </a:prstGeom>
          <a:solidFill>
            <a:srgbClr val="F4F6F8"/>
          </a:solidFill>
          <a:ln>
            <a:solidFill>
              <a:srgbClr val="F4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508760" y="4087368"/>
            <a:ext cx="1112108" cy="310896"/>
          </a:xfrm>
          <a:prstGeom prst="roundRect">
            <a:avLst/>
          </a:prstGeom>
          <a:solidFill>
            <a:srgbClr val="E07B33"/>
          </a:solidFill>
          <a:ln>
            <a:solidFill>
              <a:srgbClr val="E07B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30596" y="4078224"/>
            <a:ext cx="868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1">
                <a:solidFill>
                  <a:srgbClr val="14233A"/>
                </a:solidFill>
                <a:latin typeface="Aptos"/>
              </a:rPr>
              <a:t>$2.16M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30596" y="4370831"/>
            <a:ext cx="102412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>
                <a:solidFill>
                  <a:srgbClr val="697482"/>
                </a:solidFill>
                <a:latin typeface="Aptos"/>
              </a:rPr>
              <a:t>9.7% churn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038344"/>
            <a:ext cx="850392" cy="219456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920" b="1">
                <a:solidFill>
                  <a:srgbClr val="222B37"/>
                </a:solidFill>
                <a:latin typeface="Aptos"/>
              </a:rPr>
              <a:t>Enterprise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508760" y="4928616"/>
            <a:ext cx="5715000" cy="310896"/>
          </a:xfrm>
          <a:prstGeom prst="roundRect">
            <a:avLst/>
          </a:prstGeom>
          <a:solidFill>
            <a:srgbClr val="F4F6F8"/>
          </a:solidFill>
          <a:ln>
            <a:solidFill>
              <a:srgbClr val="F4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508760" y="4928616"/>
            <a:ext cx="5715000" cy="310896"/>
          </a:xfrm>
          <a:prstGeom prst="roundRect">
            <a:avLst/>
          </a:prstGeom>
          <a:solidFill>
            <a:srgbClr val="2A8557"/>
          </a:solidFill>
          <a:ln>
            <a:solidFill>
              <a:srgbClr val="2A85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33488" y="4919472"/>
            <a:ext cx="940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14233A"/>
                </a:solidFill>
                <a:latin typeface="Aptos"/>
              </a:rPr>
              <a:t>$11.10M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33488" y="5212079"/>
            <a:ext cx="102412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>
                <a:solidFill>
                  <a:srgbClr val="697482"/>
                </a:solidFill>
                <a:latin typeface="Aptos"/>
              </a:rPr>
              <a:t>10.0% churn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75320" y="2240280"/>
            <a:ext cx="3364992" cy="3822191"/>
          </a:xfrm>
          <a:prstGeom prst="roundRect">
            <a:avLst/>
          </a:prstGeom>
          <a:solidFill>
            <a:srgbClr val="FCF1E7"/>
          </a:solidFill>
          <a:ln>
            <a:solidFill>
              <a:srgbClr val="FCF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77072" y="2578608"/>
            <a:ext cx="182880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E07B33"/>
                </a:solidFill>
                <a:latin typeface="Aptos"/>
              </a:rPr>
              <a:t>THE DISCONNECT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77072" y="3017520"/>
            <a:ext cx="2468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100" b="1">
                <a:solidFill>
                  <a:srgbClr val="14233A"/>
                </a:solidFill>
                <a:latin typeface="Aptos"/>
              </a:rPr>
              <a:t>$11.1M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77072" y="3584448"/>
            <a:ext cx="2423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22B37"/>
                </a:solidFill>
                <a:latin typeface="Aptos"/>
              </a:rPr>
              <a:t>Enterprise lost ARR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577072" y="4069080"/>
            <a:ext cx="2715768" cy="0"/>
          </a:xfrm>
          <a:prstGeom prst="line">
            <a:avLst/>
          </a:prstGeom>
          <a:ln w="15240">
            <a:solidFill>
              <a:srgbClr val="E8CE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577072" y="4315968"/>
            <a:ext cx="269748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22B37"/>
                </a:solidFill>
                <a:latin typeface="Aptos"/>
              </a:rPr>
              <a:t>Churn is not dramatically higher in Enterprise. The risk is that the same churn rate sits on a much larger ACV base.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77072" y="5486400"/>
            <a:ext cx="2697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E07B33"/>
                </a:solidFill>
                <a:latin typeface="Aptos"/>
              </a:rPr>
              <a:t>Rate ≈ flat  |  Dollar exposure ≠ flat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64808"/>
            <a:ext cx="3108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697482"/>
                </a:solidFill>
                <a:latin typeface="Aptos"/>
              </a:rPr>
              <a:t>DAY 29  |  COMPLICATION 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464808"/>
            <a:ext cx="640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697482"/>
                </a:solidFill>
                <a:latin typeface="Aptos"/>
              </a:rPr>
              <a:t>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84048"/>
            <a:ext cx="438912" cy="438912"/>
          </a:xfrm>
          <a:prstGeom prst="roundRect">
            <a:avLst/>
          </a:prstGeom>
          <a:solidFill>
            <a:srgbClr val="B84444"/>
          </a:solidFill>
          <a:ln>
            <a:solidFill>
              <a:srgbClr val="B8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48056"/>
            <a:ext cx="43891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" y="411480"/>
            <a:ext cx="3200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B84444"/>
                </a:solidFill>
                <a:latin typeface="Aptos"/>
              </a:rPr>
              <a:t>COMPLICATION B | EXPANSION LEAKAGE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11018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50" b="1">
                <a:solidFill>
                  <a:srgbClr val="14233A"/>
                </a:solidFill>
                <a:latin typeface="Aptos"/>
              </a:rPr>
              <a:t>Upgrade MRR ($1.14M) doesn't cover churned + downgraded MRR ($1.61M) — the bucket is leaking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19072"/>
            <a:ext cx="10835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>
                <a:solidFill>
                  <a:srgbClr val="697482"/>
                </a:solidFill>
                <a:latin typeface="Aptos"/>
              </a:rPr>
              <a:t>Expansion is not currently large enough to offset customer-value leakage.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40280"/>
            <a:ext cx="7452360" cy="3822191"/>
          </a:xfrm>
          <a:prstGeom prst="roundRect">
            <a:avLst/>
          </a:prstGeom>
          <a:solidFill>
            <a:srgbClr val="FFFFFF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542032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97482"/>
                </a:solidFill>
                <a:latin typeface="Aptos"/>
              </a:rPr>
              <a:t>Cohort MRR movement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34440" y="3813317"/>
            <a:ext cx="1508760" cy="1261602"/>
          </a:xfrm>
          <a:prstGeom prst="roundRect">
            <a:avLst/>
          </a:prstGeom>
          <a:solidFill>
            <a:srgbClr val="2E67B3"/>
          </a:solidFill>
          <a:ln>
            <a:solidFill>
              <a:srgbClr val="2E67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3447557"/>
            <a:ext cx="1508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4233A"/>
                </a:solidFill>
                <a:latin typeface="Aptos"/>
              </a:rPr>
              <a:t>$1.14M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5202936"/>
            <a:ext cx="1508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222B37"/>
                </a:solidFill>
                <a:latin typeface="Aptos"/>
              </a:rPr>
              <a:t>Upgraded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46120" y="3769019"/>
            <a:ext cx="1508760" cy="1305900"/>
          </a:xfrm>
          <a:prstGeom prst="roundRect">
            <a:avLst/>
          </a:prstGeom>
          <a:solidFill>
            <a:srgbClr val="B84444"/>
          </a:solidFill>
          <a:ln>
            <a:solidFill>
              <a:srgbClr val="B8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46120" y="3403259"/>
            <a:ext cx="1508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4233A"/>
                </a:solidFill>
                <a:latin typeface="Aptos"/>
              </a:rPr>
              <a:t>$1.18M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5202936"/>
            <a:ext cx="1508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222B37"/>
                </a:solidFill>
                <a:latin typeface="Aptos"/>
              </a:rPr>
              <a:t>Churned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57800" y="4592646"/>
            <a:ext cx="1508760" cy="482273"/>
          </a:xfrm>
          <a:prstGeom prst="roundRect">
            <a:avLst/>
          </a:prstGeom>
          <a:solidFill>
            <a:srgbClr val="E07B33"/>
          </a:solidFill>
          <a:ln>
            <a:solidFill>
              <a:srgbClr val="E07B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57800" y="4226886"/>
            <a:ext cx="1508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4233A"/>
                </a:solidFill>
                <a:latin typeface="Aptos"/>
              </a:rPr>
              <a:t>$0.44M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800" y="5202936"/>
            <a:ext cx="1508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222B37"/>
                </a:solidFill>
                <a:latin typeface="Aptos"/>
              </a:rPr>
              <a:t>Downgraded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697480" y="2999232"/>
            <a:ext cx="0" cy="2624328"/>
          </a:xfrm>
          <a:prstGeom prst="line">
            <a:avLst/>
          </a:prstGeom>
          <a:ln w="12700">
            <a:solidFill>
              <a:srgbClr val="D2D8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754880" y="2999232"/>
            <a:ext cx="0" cy="2624328"/>
          </a:xfrm>
          <a:prstGeom prst="line">
            <a:avLst/>
          </a:prstGeom>
          <a:ln w="12700">
            <a:solidFill>
              <a:srgbClr val="D2D8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730752" y="2697480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697482"/>
                </a:solidFill>
                <a:latin typeface="Aptos"/>
              </a:rPr>
              <a:t>Leakage to replace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67328" y="2971800"/>
            <a:ext cx="184708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B84444"/>
                </a:solidFill>
                <a:latin typeface="Aptos"/>
              </a:rPr>
              <a:t>$1.61M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75320" y="2240280"/>
            <a:ext cx="3364992" cy="3822191"/>
          </a:xfrm>
          <a:prstGeom prst="roundRect">
            <a:avLst/>
          </a:prstGeom>
          <a:solidFill>
            <a:srgbClr val="EAF1FA"/>
          </a:solidFill>
          <a:ln>
            <a:solidFill>
              <a:srgbClr val="EA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77072" y="2578608"/>
            <a:ext cx="182880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E67B3"/>
                </a:solidFill>
                <a:latin typeface="Aptos"/>
              </a:rPr>
              <a:t>EXPANSION GAP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77072" y="2990088"/>
            <a:ext cx="2057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100" b="1">
                <a:solidFill>
                  <a:srgbClr val="14233A"/>
                </a:solidFill>
                <a:latin typeface="Aptos"/>
              </a:rPr>
              <a:t>$0.48M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77072" y="3547872"/>
            <a:ext cx="2148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22B37"/>
                </a:solidFill>
                <a:latin typeface="Aptos"/>
              </a:rPr>
              <a:t>net MRR gap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577072" y="3986784"/>
            <a:ext cx="2715768" cy="0"/>
          </a:xfrm>
          <a:prstGeom prst="line">
            <a:avLst/>
          </a:prstGeom>
          <a:ln w="15240">
            <a:solidFill>
              <a:srgbClr val="C7D6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577072" y="4279392"/>
            <a:ext cx="2706624" cy="10607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70" b="0">
                <a:solidFill>
                  <a:srgbClr val="222B37"/>
                </a:solidFill>
                <a:latin typeface="Aptos"/>
              </a:rPr>
              <a:t>Upgrade MRR trails churned + downgraded MRR by about $480K. That leaves no meaningful expansion cushion against further leakage.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77072" y="5504688"/>
            <a:ext cx="270662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69" b="0">
                <a:solidFill>
                  <a:srgbClr val="697482"/>
                </a:solidFill>
                <a:latin typeface="Aptos"/>
              </a:rPr>
              <a:t>Methodology: Cohorts are mutually exclusive. Churn states take absolute priority to prevent double-counting of accounts with prior upgrade activity.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64808"/>
            <a:ext cx="3108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697482"/>
                </a:solidFill>
                <a:latin typeface="Aptos"/>
              </a:rPr>
              <a:t>DAY 29  |  COMPLICATION 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64808"/>
            <a:ext cx="640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697482"/>
                </a:solidFill>
                <a:latin typeface="Aptos"/>
              </a:rPr>
              <a:t>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84048"/>
            <a:ext cx="438912" cy="438912"/>
          </a:xfrm>
          <a:prstGeom prst="roundRect">
            <a:avLst/>
          </a:prstGeom>
          <a:solidFill>
            <a:srgbClr val="14233A"/>
          </a:solidFill>
          <a:ln>
            <a:solidFill>
              <a:srgbClr val="14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48056"/>
            <a:ext cx="43891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" y="411480"/>
            <a:ext cx="3200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14233A"/>
                </a:solidFill>
                <a:latin typeface="Aptos"/>
              </a:rPr>
              <a:t>SYNTHESIS | COMPOUND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11018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50" b="1">
                <a:solidFill>
                  <a:srgbClr val="14233A"/>
                </a:solidFill>
                <a:latin typeface="Aptos"/>
              </a:rPr>
              <a:t>Lack of expansion MRR amplifies the Enterprise concentration risk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19072"/>
            <a:ext cx="10835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>
                <a:solidFill>
                  <a:srgbClr val="697482"/>
                </a:solidFill>
                <a:latin typeface="Aptos"/>
              </a:rPr>
              <a:t>The two findings matter more together than they do separately.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331720"/>
            <a:ext cx="11091672" cy="3611880"/>
          </a:xfrm>
          <a:prstGeom prst="roundRect">
            <a:avLst/>
          </a:prstGeom>
          <a:solidFill>
            <a:srgbClr val="F4F6F8"/>
          </a:solidFill>
          <a:ln>
            <a:solidFill>
              <a:srgbClr val="F4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697480"/>
            <a:ext cx="237744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E07B33"/>
                </a:solidFill>
                <a:latin typeface="Aptos"/>
              </a:rPr>
              <a:t>CONCENTRATION 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072384"/>
            <a:ext cx="18288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100" b="1">
                <a:solidFill>
                  <a:srgbClr val="14233A"/>
                </a:solidFill>
                <a:latin typeface="Aptos"/>
              </a:rPr>
              <a:t>$11.1M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630168"/>
            <a:ext cx="265176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222B37"/>
                </a:solidFill>
                <a:latin typeface="Aptos"/>
              </a:rPr>
              <a:t>Enterprise lost ARR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3310128"/>
            <a:ext cx="411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697482"/>
                </a:solidFill>
                <a:latin typeface="Aptos"/>
              </a:rPr>
              <a:t>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697480"/>
            <a:ext cx="256032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E67B3"/>
                </a:solidFill>
                <a:latin typeface="Aptos"/>
              </a:rPr>
              <a:t>EXPANSION LEAKAGE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3072384"/>
            <a:ext cx="18288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100" b="1">
                <a:solidFill>
                  <a:srgbClr val="14233A"/>
                </a:solidFill>
                <a:latin typeface="Aptos"/>
              </a:rPr>
              <a:t>$1.14M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3630168"/>
            <a:ext cx="219456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222B37"/>
                </a:solidFill>
                <a:latin typeface="Aptos"/>
              </a:rPr>
              <a:t>Upgrade MRR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086600" y="2816352"/>
            <a:ext cx="0" cy="1344168"/>
          </a:xfrm>
          <a:prstGeom prst="line">
            <a:avLst/>
          </a:prstGeom>
          <a:ln w="19050">
            <a:solidFill>
              <a:srgbClr val="D2D8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452360" y="2697480"/>
            <a:ext cx="228600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B84444"/>
                </a:solidFill>
                <a:latin typeface="Aptos"/>
              </a:rPr>
              <a:t>COMPOUND EFFECT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2360" y="3054096"/>
            <a:ext cx="32461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14233A"/>
                </a:solidFill>
                <a:latin typeface="Aptos"/>
              </a:rPr>
              <a:t>No expansion cushion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60" y="3621024"/>
            <a:ext cx="3246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60" b="0">
                <a:solidFill>
                  <a:srgbClr val="697482"/>
                </a:solidFill>
                <a:latin typeface="Aptos"/>
              </a:rPr>
              <a:t>when high-value accounts are exposed to churn.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645152"/>
            <a:ext cx="1001268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4233A"/>
                </a:solidFill>
                <a:latin typeface="Aptos"/>
              </a:rPr>
              <a:t>If a single large Enterprise account churns, there is currently no expansion pipeline large enough to replace it — the two risks compound.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5449824"/>
            <a:ext cx="94640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20" b="0">
                <a:solidFill>
                  <a:srgbClr val="697482"/>
                </a:solidFill>
                <a:latin typeface="Aptos"/>
              </a:rPr>
              <a:t>The management implication is not merely “reduce churn”; it is to reduce concentration exposure while building a reliable expansion engine.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64808"/>
            <a:ext cx="3108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697482"/>
                </a:solidFill>
                <a:latin typeface="Aptos"/>
              </a:rPr>
              <a:t>DAY 29  |  SYNTHESIS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64808"/>
            <a:ext cx="640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697482"/>
                </a:solidFill>
                <a:latin typeface="Aptos"/>
              </a:rPr>
              <a:t>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84048"/>
            <a:ext cx="438912" cy="438912"/>
          </a:xfrm>
          <a:prstGeom prst="roundRect">
            <a:avLst/>
          </a:prstGeom>
          <a:solidFill>
            <a:srgbClr val="2A8557"/>
          </a:solidFill>
          <a:ln>
            <a:solidFill>
              <a:srgbClr val="2A85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48056"/>
            <a:ext cx="43891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" y="411480"/>
            <a:ext cx="3200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2A8557"/>
                </a:solidFill>
                <a:latin typeface="Aptos"/>
              </a:rPr>
              <a:t>RESOLUTION | EXECUTIVE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11018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50" b="1">
                <a:solidFill>
                  <a:srgbClr val="14233A"/>
                </a:solidFill>
                <a:latin typeface="Aptos"/>
              </a:rPr>
              <a:t>Deploy dedicated Enterprise coverage and enforce NDR targets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19072"/>
            <a:ext cx="10835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>
                <a:solidFill>
                  <a:srgbClr val="697482"/>
                </a:solidFill>
                <a:latin typeface="Aptos"/>
              </a:rPr>
              <a:t>Three actions address the concentration risk, the expansion shortfall, and the missing management guardrail.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67712"/>
            <a:ext cx="73152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49808" y="2450592"/>
            <a:ext cx="658368" cy="658368"/>
          </a:xfrm>
          <a:prstGeom prst="roundRect">
            <a:avLst/>
          </a:prstGeom>
          <a:solidFill>
            <a:srgbClr val="E07B33"/>
          </a:solidFill>
          <a:ln>
            <a:solidFill>
              <a:srgbClr val="E07B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596896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2414016"/>
            <a:ext cx="571500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33A"/>
                </a:solidFill>
                <a:latin typeface="Aptos"/>
              </a:rPr>
              <a:t>Protect Enterprise revenue first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8" y="2734056"/>
            <a:ext cx="5715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30" b="0">
                <a:solidFill>
                  <a:srgbClr val="697482"/>
                </a:solidFill>
                <a:latin typeface="Aptos"/>
              </a:rPr>
              <a:t>Deploy dedicated Enterprise retention coverage given the outsized ACV concentration and dollar exposure.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65576"/>
            <a:ext cx="73152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49808" y="3648456"/>
            <a:ext cx="658368" cy="658368"/>
          </a:xfrm>
          <a:prstGeom prst="roundRect">
            <a:avLst/>
          </a:prstGeom>
          <a:solidFill>
            <a:srgbClr val="2E67B3"/>
          </a:solidFill>
          <a:ln>
            <a:solidFill>
              <a:srgbClr val="2E67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794760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4208" y="3611880"/>
            <a:ext cx="571500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33A"/>
                </a:solidFill>
                <a:latin typeface="Aptos"/>
              </a:rPr>
              <a:t>Diagnose the expansion bottleneck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64208" y="3931920"/>
            <a:ext cx="5715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30" b="0">
                <a:solidFill>
                  <a:srgbClr val="697482"/>
                </a:solidFill>
                <a:latin typeface="Aptos"/>
              </a:rPr>
              <a:t>Investigate why upgrade MRR underperforms: sales-motion friction vs. product limitations.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663440"/>
            <a:ext cx="73152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49808" y="4846320"/>
            <a:ext cx="658368" cy="658368"/>
          </a:xfrm>
          <a:prstGeom prst="roundRect">
            <a:avLst/>
          </a:prstGeom>
          <a:solidFill>
            <a:srgbClr val="2A8557"/>
          </a:solidFill>
          <a:ln>
            <a:solidFill>
              <a:srgbClr val="2A85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4992624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4208" y="4809744"/>
            <a:ext cx="571500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33A"/>
                </a:solidFill>
                <a:latin typeface="Aptos"/>
              </a:rPr>
              <a:t>Make NDR an explicit control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8" y="5129783"/>
            <a:ext cx="5715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30" b="0">
                <a:solidFill>
                  <a:srgbClr val="697482"/>
                </a:solidFill>
                <a:latin typeface="Aptos"/>
              </a:rPr>
              <a:t>Set an NDR target and track upgrade-to-downgrade ratio monthly to detect deterioration early.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75320" y="2267712"/>
            <a:ext cx="3364992" cy="3730752"/>
          </a:xfrm>
          <a:prstGeom prst="roundRect">
            <a:avLst/>
          </a:prstGeom>
          <a:solidFill>
            <a:srgbClr val="E8F5ED"/>
          </a:solidFill>
          <a:ln>
            <a:solidFill>
              <a:srgbClr val="E8F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77072" y="2578608"/>
            <a:ext cx="233172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A8557"/>
                </a:solidFill>
                <a:latin typeface="Aptos"/>
              </a:rPr>
              <a:t>HYPOTHESIS RULE-OUT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77072" y="2971800"/>
            <a:ext cx="275604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233A"/>
                </a:solidFill>
                <a:latin typeface="Aptos"/>
              </a:rPr>
              <a:t>Annual billing is not the intervention.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77072" y="3821800"/>
            <a:ext cx="2679192" cy="1115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>
                <a:solidFill>
                  <a:srgbClr val="222B37"/>
                </a:solidFill>
                <a:latin typeface="Aptos"/>
              </a:rPr>
              <a:t>We also tested whether annual billing reduces churn; once controlling for tenure, it does not appear anomalous — no action needed there.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77072" y="5120640"/>
            <a:ext cx="2688336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1">
                <a:solidFill>
                  <a:srgbClr val="2A8557"/>
                </a:solidFill>
                <a:latin typeface="Aptos"/>
              </a:rPr>
              <a:t>Rigor signal: tested → ruled out → no wasted intervention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925312"/>
            <a:ext cx="2011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1">
                <a:solidFill>
                  <a:srgbClr val="697482"/>
                </a:solidFill>
                <a:latin typeface="Aptos"/>
              </a:rPr>
              <a:t>EXECUTIVE DECISION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93392" y="5870448"/>
            <a:ext cx="81838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30" b="1">
                <a:solidFill>
                  <a:srgbClr val="14233A"/>
                </a:solidFill>
                <a:latin typeface="Aptos"/>
              </a:rPr>
              <a:t>Diversify Enterprise exposure while building a measurable expansion engine.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64808"/>
            <a:ext cx="3108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697482"/>
                </a:solidFill>
                <a:latin typeface="Aptos"/>
              </a:rPr>
              <a:t>DAY 29  |  RESOLUTION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64808"/>
            <a:ext cx="640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697482"/>
                </a:solidFill>
                <a:latin typeface="Aptos"/>
              </a:rPr>
              <a:t>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